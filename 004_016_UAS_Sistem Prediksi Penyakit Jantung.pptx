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64D918-25EC-4F7B-83BB-0786576581D5}">
  <a:tblStyle styleId="{E264D918-25EC-4F7B-83BB-0786576581D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.fntdata"/><Relationship Id="rId14" Type="http://schemas.openxmlformats.org/officeDocument/2006/relationships/slide" Target="slides/slide8.xml"/><Relationship Id="rId36" Type="http://schemas.openxmlformats.org/officeDocument/2006/relationships/font" Target="fonts/InterMedium-regular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ef14e0b5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ef14e0b56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11" Type="http://schemas.openxmlformats.org/officeDocument/2006/relationships/image" Target="../media/image19.png"/><Relationship Id="rId10" Type="http://schemas.openxmlformats.org/officeDocument/2006/relationships/image" Target="../media/image25.png"/><Relationship Id="rId12" Type="http://schemas.openxmlformats.org/officeDocument/2006/relationships/image" Target="../media/image24.png"/><Relationship Id="rId9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4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0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70600" y="1549344"/>
            <a:ext cx="68508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Sistem Prediksi Risiko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Penyakit Jantung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85050" y="3240450"/>
            <a:ext cx="10821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Pendekatan Machine Learning Berbasis Klasterisasi dan Explainable AI</a:t>
            </a:r>
            <a:endParaRPr sz="2100"/>
          </a:p>
        </p:txBody>
      </p:sp>
      <p:sp>
        <p:nvSpPr>
          <p:cNvPr id="87" name="Google Shape;87;p13"/>
          <p:cNvSpPr txBox="1"/>
          <p:nvPr/>
        </p:nvSpPr>
        <p:spPr>
          <a:xfrm>
            <a:off x="1866150" y="4223750"/>
            <a:ext cx="84597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Oleh:</a:t>
            </a:r>
            <a:endParaRPr i="1" sz="18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Seriusman Waruwu (25051905004) , Zaskhia Artina Isnalifah (25051905016)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753950" y="5682925"/>
            <a:ext cx="868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Tugas Akhir Mata Kuliah Data Mining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9637" y="31813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19637" y="37052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9637" y="42291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9637" y="47529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9637" y="52768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5715000" y="1485900"/>
            <a:ext cx="762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2745581" y="1809750"/>
            <a:ext cx="670083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Agenda Presentasi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97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904875" y="2385119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Konteks Medis: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Penyakit kardiovaskular memiliki risiko tinggi yang menuntut deteksi dini secara akurat dan presisi.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04875" y="3124200"/>
            <a:ext cx="4905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Masalah "Black-Box":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Algoritma machine learning kompleks (seperti XGBoost) umumnya beroperasi seperti kotak hitam dan sulit diinterpretasikan secara medis.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04875" y="4137570"/>
            <a:ext cx="49053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Solusi Penelitian: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Membangun model prediktif yang tidak hanya akurat secara matematis, tetapi juga transparan (Explainable AI) untuk menumbuhkan rasa percaya (trust) dari tenaga medis.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2798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1670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180433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Latar Belakang &amp; Urgensi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54898"/>
            <a:ext cx="5334000" cy="478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354898"/>
            <a:ext cx="5334000" cy="478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62025" y="1745429"/>
            <a:ext cx="478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Dimensi &amp; Validasi Data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62025" y="2193104"/>
            <a:ext cx="45531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Dataset terdiri dari 918 observasi rekam medis valid. Data ini telah melalui tahapan pra-pemrosesan (data preprocessing) yang ketat, meliputi pembersihan anomali, teknik imputasi data, serta proses standarisasi metrik untuk memastikan model menerima input yang homogen.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677025" y="1745429"/>
            <a:ext cx="4780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Temuan Matriks Korelasi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010400" y="2335979"/>
            <a:ext cx="42195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Korelasi Positif: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Tingkat depresi ST (Oldpeak) dan Usia berbanding lurus dengan peningkatan indikasi risiko penyakit jantung.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010400" y="3349350"/>
            <a:ext cx="42195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Korelasi Negatif: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Kapasitas detak jantung maksimal (MaxHR) berbanding terbalik, mengonfirmasi penurunan toleransi kardiovaskular.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Karakteristik Dataset &amp; Ekstraksi Pola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61950" y="4416179"/>
            <a:ext cx="45531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Dataset ini mencakup 11 fitur prediktor yang merepresentasikan kondisi medis pasien serta 1 label target.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5715000" y="1364425"/>
            <a:ext cx="762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1005447" y="471950"/>
            <a:ext cx="10181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Deskripsi Atribut Dataset</a:t>
            </a:r>
            <a:endParaRPr sz="400"/>
          </a:p>
        </p:txBody>
      </p:sp>
      <p:graphicFrame>
        <p:nvGraphicFramePr>
          <p:cNvPr id="135" name="Google Shape;135;p17"/>
          <p:cNvGraphicFramePr/>
          <p:nvPr/>
        </p:nvGraphicFramePr>
        <p:xfrm>
          <a:off x="1609963" y="13126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{E264D918-25EC-4F7B-83BB-0786576581D5}</a:tableStyleId>
              </a:tblPr>
              <a:tblGrid>
                <a:gridCol w="2466975"/>
                <a:gridCol w="1928000"/>
                <a:gridCol w="4577100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Variabel</a:t>
                      </a:r>
                      <a:endParaRPr b="1"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Tipe Data</a:t>
                      </a:r>
                      <a:endParaRPr b="1"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Deskripsi Singkat</a:t>
                      </a:r>
                      <a:endParaRPr b="1"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Age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Numerik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Usia pasien (dalam tahun).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Sex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Kategorikal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Jenis kelamin (M: Laki-laki, F: Perempuan).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ChestPainType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Kategorikal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Tipe nyeri dada (TA, ATA, NAP, ASY).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RestingBP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Numerik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Tekanan darah saat istirahat (mm Hg).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Cholesterol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Numerik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Kadar kolesterol serum (mm/dl).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FastingBS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Kategorikal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Gula darah puasa (1 jika &gt; 120 mg/dl, 0 jika tidak).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RestingECG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Kategorikal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Hasil EKG saat istirahat (Normal, ST, LVH).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MaxHR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Numerik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Detak jantung maksimum yang dicapai.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ExerciseAngina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Kategorikal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Angina akibat olahraga (Y: Ya, N: Tidak).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Oldpeak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Numerik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Depresi ST akibat olahraga relatif terhadap istirahat.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ST_Slope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Kategorikal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Kemiringan segmen ST (Up, Flat, Down).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HeartDisease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Target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Inter"/>
                          <a:ea typeface="Inter"/>
                          <a:cs typeface="Inter"/>
                          <a:sym typeface="Inter"/>
                        </a:rPr>
                        <a:t>Indikasi penyakit (1: Positif sakit, 0: Normal).</a:t>
                      </a:r>
                      <a:endParaRPr sz="13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68575" marL="6857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5037"/>
            <a:ext cx="3492549" cy="3400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05037"/>
            <a:ext cx="3492549" cy="3400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05037"/>
            <a:ext cx="3492549" cy="3400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955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866775" y="3395662"/>
            <a:ext cx="281035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Unsupervised Learning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866775" y="3843337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Segmentasi profil pasien dilakukan menggunakan algoritma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K-Means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Evaluasi jumlah klaster optimal divalidasi menggunakan kurva Elbow dan Silhouette Score.</a:t>
            </a:r>
            <a:endParaRPr/>
          </a:p>
        </p:txBody>
      </p:sp>
      <p:pic>
        <p:nvPicPr>
          <p:cNvPr descr="image.png" id="147" name="Google Shape;14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955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4645074" y="3395662"/>
            <a:ext cx="249031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Supervised Learning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4645074" y="3843337"/>
            <a:ext cx="29019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Klasifikasi risiko dieksekusi melalui komparasi tiga algoritma prediktif: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Logistic Regression, Random Forest, </a:t>
            </a:r>
            <a:r>
              <a:rPr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dan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untuk menemukan akurasi tertinggi.</a:t>
            </a:r>
            <a:endParaRPr/>
          </a:p>
        </p:txBody>
      </p:sp>
      <p:pic>
        <p:nvPicPr>
          <p:cNvPr descr="image.png" id="150" name="Google Shape;15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955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8423374" y="3395662"/>
            <a:ext cx="167020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Explainability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423374" y="3843337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Mengimplementasikan algoritma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SHAP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(SHapley Additive exPlanations) guna mengurai dan memvisualisasikan kontribusi fitur secara transparan.</a:t>
            </a:r>
            <a:endParaRPr/>
          </a:p>
        </p:txBody>
      </p:sp>
      <p:pic>
        <p:nvPicPr>
          <p:cNvPr descr="image.png" id="153" name="Google Shape;153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0125" y="274796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64137" y="2747962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75774" y="27479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Alur Metode Komputasi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5715000" y="2605980"/>
            <a:ext cx="762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3265646" y="2929830"/>
            <a:ext cx="566070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Hasil Evaluasi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2386012" y="4110930"/>
            <a:ext cx="741997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Klasterisasi, Performa Model, dan Transparansi Keputusan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97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904875" y="2522339"/>
            <a:ext cx="4905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Optimalisasi Klaster: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Evaluasi Silhouette Score memvalidasi k=3 sebagai konfigurasi jumlah klaster paling optimal.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904875" y="3261419"/>
            <a:ext cx="4905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Klaster 0 (Risiko Rendah):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Terlihat terpisah secara tegas dan padat di area negatif PC1, menandakan homogenitas data yang kuat.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904875" y="4274790"/>
            <a:ext cx="4905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Klaster 1 &amp; 2 (Moderat &amp; Kritis):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Menyebar berdampingan di area positif, menunjukkan transisi tingkat keparahan gejala klinis secara spasial.</a:t>
            </a:r>
            <a:endParaRPr/>
          </a:p>
        </p:txBody>
      </p:sp>
      <p:pic>
        <p:nvPicPr>
          <p:cNvPr descr="image.png" id="175" name="Google Shape;17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6520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0428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317652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Segmentasi Profil Risiko Pasien (PCA 2D)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571500" y="5521672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Berdasarkan evaluasi, Logistic Regression mendominasi metrik Akurasi dan Recall, menjadikannya andal dalam menekan angka False Negative. Sementara itu, model kompleks seperti XGBoost menunjukkan keunggulan spesifik pada presisi.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Komparasi Performa Algoritma Klasifikasi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/>
          <p:nvPr/>
        </p:nvSpPr>
        <p:spPr>
          <a:xfrm>
            <a:off x="0" y="0"/>
            <a:ext cx="12192000" cy="133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"/>
          <p:cNvSpPr txBox="1"/>
          <p:nvPr/>
        </p:nvSpPr>
        <p:spPr>
          <a:xfrm>
            <a:off x="571500" y="381000"/>
            <a:ext cx="11049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Global Feature Importance (SHAP)</a:t>
            </a:r>
            <a:endParaRPr b="1" sz="32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571500" y="1714500"/>
            <a:ext cx="51435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Interpretasi Tingkat Makro</a:t>
            </a:r>
            <a:endParaRPr b="0" sz="1800">
              <a:solidFill>
                <a:srgbClr val="0284C7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94" name="Google Shape;194;p22"/>
          <p:cNvGrpSpPr/>
          <p:nvPr/>
        </p:nvGrpSpPr>
        <p:grpSpPr>
          <a:xfrm>
            <a:off x="571500" y="2286000"/>
            <a:ext cx="5143500" cy="4000500"/>
            <a:chOff x="571500" y="2286000"/>
            <a:chExt cx="5143500" cy="4000500"/>
          </a:xfrm>
        </p:grpSpPr>
        <p:sp>
          <p:nvSpPr>
            <p:cNvPr id="195" name="Google Shape;195;p22"/>
            <p:cNvSpPr/>
            <p:nvPr/>
          </p:nvSpPr>
          <p:spPr>
            <a:xfrm>
              <a:off x="571500" y="2286000"/>
              <a:ext cx="5143500" cy="4000500"/>
            </a:xfrm>
            <a:prstGeom prst="roundRect">
              <a:avLst>
                <a:gd fmla="val 38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2"/>
            <p:cNvSpPr txBox="1"/>
            <p:nvPr/>
          </p:nvSpPr>
          <p:spPr>
            <a:xfrm>
              <a:off x="809625" y="2524125"/>
              <a:ext cx="46674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Grafik SHAP Summary Plot secara transparan membuktikan bahwa fitur elektrokardiogram </a:t>
              </a:r>
              <a:r>
                <a:rPr b="1" lang="en-US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ST_Slope_Up</a:t>
              </a:r>
              <a:r>
                <a:rPr b="0" lang="en-US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merupakan parameter prediktif yang paling determinan secara global.</a:t>
              </a:r>
              <a:endParaRPr b="0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lang="en-US"/>
                <a:t> </a:t>
              </a:r>
              <a:r>
                <a:rPr lang="en-US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Fitur </a:t>
              </a:r>
              <a:r>
                <a:rPr i="1" lang="en-US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ChestPainType_ASY</a:t>
              </a:r>
              <a:r>
                <a:rPr lang="en-US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menyusul di urutan kedua.</a:t>
              </a: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</a:t>
              </a:r>
              <a:r>
                <a:rPr lang="en-US"/>
                <a:t> </a:t>
              </a:r>
              <a:r>
                <a:rPr lang="en-US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Validasi ini mengonfirmasi bahwa prioritas komputasi algoritma telah selaras sepenuhnya dengan literatur patologi kardiologi.</a:t>
              </a:r>
              <a:endParaRPr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7" name="Google Shape;197;p22"/>
          <p:cNvSpPr/>
          <p:nvPr/>
        </p:nvSpPr>
        <p:spPr>
          <a:xfrm>
            <a:off x="6286500" y="2286000"/>
            <a:ext cx="5334000" cy="4000500"/>
          </a:xfrm>
          <a:prstGeom prst="roundRect">
            <a:avLst>
              <a:gd fmla="val 3809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22"/>
          <p:cNvPicPr preferRelativeResize="0"/>
          <p:nvPr/>
        </p:nvPicPr>
        <p:blipFill rotWithShape="1">
          <a:blip r:embed="rId4">
            <a:alphaModFix/>
          </a:blip>
          <a:srcRect b="16864" l="0" r="0" t="16871"/>
          <a:stretch/>
        </p:blipFill>
        <p:spPr>
          <a:xfrm>
            <a:off x="6334125" y="2333625"/>
            <a:ext cx="5238900" cy="3905400"/>
          </a:xfrm>
          <a:prstGeom prst="roundRect">
            <a:avLst>
              <a:gd fmla="val 292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/>
          <p:nvPr/>
        </p:nvSpPr>
        <p:spPr>
          <a:xfrm>
            <a:off x="5715000" y="2605980"/>
            <a:ext cx="762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3150631" y="2929830"/>
            <a:ext cx="5890736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Demo Aplikasi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2447925" y="4110930"/>
            <a:ext cx="72961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Implementasi Sistem Pendukung Keputusan Klinis (SPKK)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571500" y="285750"/>
            <a:ext cx="11049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Antarmuka Input &amp; Interpretasi Personal</a:t>
            </a:r>
            <a:endParaRPr b="1" sz="32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24"/>
          <p:cNvSpPr/>
          <p:nvPr/>
        </p:nvSpPr>
        <p:spPr>
          <a:xfrm>
            <a:off x="571500" y="857250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4" name="Google Shape;214;p24"/>
          <p:cNvGrpSpPr/>
          <p:nvPr/>
        </p:nvGrpSpPr>
        <p:grpSpPr>
          <a:xfrm>
            <a:off x="571500" y="1428750"/>
            <a:ext cx="4000500" cy="1428900"/>
            <a:chOff x="571500" y="1428750"/>
            <a:chExt cx="4000500" cy="1428900"/>
          </a:xfrm>
        </p:grpSpPr>
        <p:sp>
          <p:nvSpPr>
            <p:cNvPr id="215" name="Google Shape;215;p24"/>
            <p:cNvSpPr/>
            <p:nvPr/>
          </p:nvSpPr>
          <p:spPr>
            <a:xfrm>
              <a:off x="571500" y="1428750"/>
              <a:ext cx="4000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762000" y="1619250"/>
              <a:ext cx="457200" cy="457200"/>
            </a:xfrm>
            <a:prstGeom prst="roundRect">
              <a:avLst>
                <a:gd fmla="val 20833" name="adj"/>
              </a:avLst>
            </a:prstGeom>
            <a:solidFill>
              <a:srgbClr val="0284C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4"/>
            <p:cNvSpPr txBox="1"/>
            <p:nvPr/>
          </p:nvSpPr>
          <p:spPr>
            <a:xfrm>
              <a:off x="762000" y="1654302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24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8" name="Google Shape;218;p24"/>
            <p:cNvSpPr txBox="1"/>
            <p:nvPr/>
          </p:nvSpPr>
          <p:spPr>
            <a:xfrm>
              <a:off x="1371600" y="1619250"/>
              <a:ext cx="3009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Formulir Real-Time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Dashboard dirancang interaktif untuk meminimalisasi human error saat proses input rekam medis pasien.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9" name="Google Shape;219;p24"/>
          <p:cNvGrpSpPr/>
          <p:nvPr/>
        </p:nvGrpSpPr>
        <p:grpSpPr>
          <a:xfrm>
            <a:off x="571500" y="3048000"/>
            <a:ext cx="4000500" cy="1428900"/>
            <a:chOff x="571500" y="3048000"/>
            <a:chExt cx="4000500" cy="1428900"/>
          </a:xfrm>
        </p:grpSpPr>
        <p:sp>
          <p:nvSpPr>
            <p:cNvPr id="220" name="Google Shape;220;p24"/>
            <p:cNvSpPr/>
            <p:nvPr/>
          </p:nvSpPr>
          <p:spPr>
            <a:xfrm>
              <a:off x="571500" y="3048000"/>
              <a:ext cx="4000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>
              <a:off x="762000" y="3238500"/>
              <a:ext cx="457200" cy="457200"/>
            </a:xfrm>
            <a:prstGeom prst="roundRect">
              <a:avLst>
                <a:gd fmla="val 20833" name="adj"/>
              </a:avLst>
            </a:prstGeom>
            <a:solidFill>
              <a:srgbClr val="0284C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4"/>
            <p:cNvSpPr txBox="1"/>
            <p:nvPr/>
          </p:nvSpPr>
          <p:spPr>
            <a:xfrm>
              <a:off x="762000" y="3273552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3" name="Google Shape;223;p24"/>
            <p:cNvSpPr txBox="1"/>
            <p:nvPr/>
          </p:nvSpPr>
          <p:spPr>
            <a:xfrm>
              <a:off x="1371600" y="3238500"/>
              <a:ext cx="3009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Local Explanation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Menggunakan Waterfall SHAP Plot untuk membedah justifikasi algoritma pada skala individu secara terperinci.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4" name="Google Shape;224;p24"/>
          <p:cNvGrpSpPr/>
          <p:nvPr/>
        </p:nvGrpSpPr>
        <p:grpSpPr>
          <a:xfrm>
            <a:off x="571500" y="4667250"/>
            <a:ext cx="4000500" cy="1428900"/>
            <a:chOff x="571500" y="4667250"/>
            <a:chExt cx="4000500" cy="1428900"/>
          </a:xfrm>
        </p:grpSpPr>
        <p:sp>
          <p:nvSpPr>
            <p:cNvPr id="225" name="Google Shape;225;p24"/>
            <p:cNvSpPr/>
            <p:nvPr/>
          </p:nvSpPr>
          <p:spPr>
            <a:xfrm>
              <a:off x="571500" y="4667250"/>
              <a:ext cx="40005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4"/>
            <p:cNvSpPr/>
            <p:nvPr/>
          </p:nvSpPr>
          <p:spPr>
            <a:xfrm>
              <a:off x="762000" y="4857750"/>
              <a:ext cx="457200" cy="457200"/>
            </a:xfrm>
            <a:prstGeom prst="roundRect">
              <a:avLst>
                <a:gd fmla="val 20833" name="adj"/>
              </a:avLst>
            </a:prstGeom>
            <a:solidFill>
              <a:srgbClr val="0284C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4"/>
            <p:cNvSpPr txBox="1"/>
            <p:nvPr/>
          </p:nvSpPr>
          <p:spPr>
            <a:xfrm>
              <a:off x="762000" y="4892802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284C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400">
                <a:solidFill>
                  <a:srgbClr val="0284C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8" name="Google Shape;228;p24"/>
            <p:cNvSpPr txBox="1"/>
            <p:nvPr/>
          </p:nvSpPr>
          <p:spPr>
            <a:xfrm>
              <a:off x="1371600" y="4857750"/>
              <a:ext cx="3009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Arah Kontribusi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Memisahkan parameter yang mendorong peningkatan risiko </a:t>
              </a:r>
              <a:r>
                <a:rPr b="0" lang="en-US" sz="1100">
                  <a:solidFill>
                    <a:srgbClr val="EF4444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(merah)</a:t>
              </a: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dan penurunan risiko </a:t>
              </a:r>
              <a:r>
                <a:rPr b="0" lang="en-US" sz="11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(gelap)</a:t>
              </a:r>
              <a:r>
                <a:rPr b="0"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secara dinamis.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9" name="Google Shape;229;p24"/>
          <p:cNvGrpSpPr/>
          <p:nvPr/>
        </p:nvGrpSpPr>
        <p:grpSpPr>
          <a:xfrm>
            <a:off x="4876800" y="1352550"/>
            <a:ext cx="6819900" cy="4914900"/>
            <a:chOff x="4876800" y="1352550"/>
            <a:chExt cx="6819900" cy="4914900"/>
          </a:xfrm>
        </p:grpSpPr>
        <p:sp>
          <p:nvSpPr>
            <p:cNvPr id="230" name="Google Shape;230;p24"/>
            <p:cNvSpPr/>
            <p:nvPr/>
          </p:nvSpPr>
          <p:spPr>
            <a:xfrm>
              <a:off x="4876800" y="1352550"/>
              <a:ext cx="6819900" cy="4914900"/>
            </a:xfrm>
            <a:prstGeom prst="roundRect">
              <a:avLst>
                <a:gd fmla="val 31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1" name="Google Shape;231;p24"/>
            <p:cNvPicPr preferRelativeResize="0"/>
            <p:nvPr/>
          </p:nvPicPr>
          <p:blipFill rotWithShape="1">
            <a:blip r:embed="rId4">
              <a:alphaModFix/>
            </a:blip>
            <a:srcRect b="17679" l="-8220" r="-8208" t="7633"/>
            <a:stretch/>
          </p:blipFill>
          <p:spPr>
            <a:xfrm>
              <a:off x="4953000" y="1428750"/>
              <a:ext cx="6667500" cy="4762500"/>
            </a:xfrm>
            <a:prstGeom prst="roundRect">
              <a:avLst>
                <a:gd fmla="val 2400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" name="Google Shape;237;p25"/>
          <p:cNvGrpSpPr/>
          <p:nvPr/>
        </p:nvGrpSpPr>
        <p:grpSpPr>
          <a:xfrm>
            <a:off x="571500" y="333375"/>
            <a:ext cx="11049000" cy="609600"/>
            <a:chOff x="571500" y="333375"/>
            <a:chExt cx="11049000" cy="609600"/>
          </a:xfrm>
        </p:grpSpPr>
        <p:sp>
          <p:nvSpPr>
            <p:cNvPr id="238" name="Google Shape;238;p25"/>
            <p:cNvSpPr txBox="1"/>
            <p:nvPr/>
          </p:nvSpPr>
          <p:spPr>
            <a:xfrm>
              <a:off x="571500" y="333375"/>
              <a:ext cx="1104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Kesimpulan</a:t>
              </a:r>
              <a:endParaRPr b="1" sz="36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9" name="Google Shape;239;p25"/>
            <p:cNvSpPr/>
            <p:nvPr/>
          </p:nvSpPr>
          <p:spPr>
            <a:xfrm>
              <a:off x="571500" y="904875"/>
              <a:ext cx="571500" cy="381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" name="Google Shape;240;p25"/>
          <p:cNvGrpSpPr/>
          <p:nvPr/>
        </p:nvGrpSpPr>
        <p:grpSpPr>
          <a:xfrm>
            <a:off x="571500" y="1524000"/>
            <a:ext cx="11039550" cy="4572000"/>
            <a:chOff x="571500" y="1524000"/>
            <a:chExt cx="11039550" cy="4572000"/>
          </a:xfrm>
        </p:grpSpPr>
        <p:grpSp>
          <p:nvGrpSpPr>
            <p:cNvPr id="241" name="Google Shape;241;p25"/>
            <p:cNvGrpSpPr/>
            <p:nvPr/>
          </p:nvGrpSpPr>
          <p:grpSpPr>
            <a:xfrm>
              <a:off x="571500" y="1524000"/>
              <a:ext cx="3552900" cy="2286000"/>
              <a:chOff x="571500" y="1524000"/>
              <a:chExt cx="3552900" cy="2286000"/>
            </a:xfrm>
          </p:grpSpPr>
          <p:sp>
            <p:nvSpPr>
              <p:cNvPr id="242" name="Google Shape;242;p25"/>
              <p:cNvSpPr/>
              <p:nvPr/>
            </p:nvSpPr>
            <p:spPr>
              <a:xfrm>
                <a:off x="571500" y="1524000"/>
                <a:ext cx="3552900" cy="22860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5"/>
              <p:cNvSpPr txBox="1"/>
              <p:nvPr/>
            </p:nvSpPr>
            <p:spPr>
              <a:xfrm>
                <a:off x="809625" y="1714500"/>
                <a:ext cx="30765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Seleksi Fitur</a:t>
                </a:r>
                <a:endParaRPr b="1" sz="14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Mereduksi dimensi data dan membuktikan indikator </a:t>
                </a:r>
                <a:r>
                  <a:rPr b="0" lang="en-US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ST_Slope_Up</a:t>
                </a: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dan </a:t>
                </a:r>
                <a:r>
                  <a:rPr b="0" lang="en-US" sz="11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ChestPainType_ASY</a:t>
                </a: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sebagai variabel paling dominan.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4" name="Google Shape;244;p25"/>
            <p:cNvGrpSpPr/>
            <p:nvPr/>
          </p:nvGrpSpPr>
          <p:grpSpPr>
            <a:xfrm>
              <a:off x="4314825" y="1524000"/>
              <a:ext cx="3552900" cy="2286000"/>
              <a:chOff x="4314825" y="1524000"/>
              <a:chExt cx="3552900" cy="2286000"/>
            </a:xfrm>
          </p:grpSpPr>
          <p:sp>
            <p:nvSpPr>
              <p:cNvPr id="245" name="Google Shape;245;p25"/>
              <p:cNvSpPr/>
              <p:nvPr/>
            </p:nvSpPr>
            <p:spPr>
              <a:xfrm>
                <a:off x="4314825" y="1524000"/>
                <a:ext cx="3552900" cy="2286000"/>
              </a:xfrm>
              <a:prstGeom prst="roundRect">
                <a:avLst>
                  <a:gd fmla="val 6666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5"/>
              <p:cNvSpPr txBox="1"/>
              <p:nvPr/>
            </p:nvSpPr>
            <p:spPr>
              <a:xfrm>
                <a:off x="4552950" y="1714500"/>
                <a:ext cx="30765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Klastering (K-Means)</a:t>
                </a:r>
                <a:endParaRPr b="1" sz="14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Membentuk tiga segmen risiko pasien. Membuat data lebih homogen untuk memudahkan pengenalan pola oleh algoritma.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47" name="Google Shape;247;p25"/>
            <p:cNvGrpSpPr/>
            <p:nvPr/>
          </p:nvGrpSpPr>
          <p:grpSpPr>
            <a:xfrm>
              <a:off x="8058150" y="1524000"/>
              <a:ext cx="3552900" cy="2286000"/>
              <a:chOff x="8058150" y="1524000"/>
              <a:chExt cx="3552900" cy="2286000"/>
            </a:xfrm>
          </p:grpSpPr>
          <p:sp>
            <p:nvSpPr>
              <p:cNvPr id="248" name="Google Shape;248;p25"/>
              <p:cNvSpPr/>
              <p:nvPr/>
            </p:nvSpPr>
            <p:spPr>
              <a:xfrm>
                <a:off x="8058150" y="1524000"/>
                <a:ext cx="3552900" cy="2286000"/>
              </a:xfrm>
              <a:prstGeom prst="roundRect">
                <a:avLst>
                  <a:gd fmla="val 6666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25"/>
              <p:cNvSpPr txBox="1"/>
              <p:nvPr/>
            </p:nvSpPr>
            <p:spPr>
              <a:xfrm>
                <a:off x="8296275" y="1714500"/>
                <a:ext cx="30765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Model Klasifikasi Terbaik</a:t>
                </a:r>
                <a:endParaRPr b="1" sz="1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Logistic Regression</a:t>
                </a:r>
                <a:r>
                  <a:rPr b="0" lang="en-US" sz="1100">
                    <a:solidFill>
                      <a:srgbClr val="E0F2FE"/>
                    </a:solidFill>
                    <a:latin typeface="Inter"/>
                    <a:ea typeface="Inter"/>
                    <a:cs typeface="Inter"/>
                    <a:sym typeface="Inter"/>
                  </a:rPr>
                  <a:t> terbukti paling ideal dengan Recall 92,16% dan Akurasi 89,67%, krusial untuk menekan false negative. Performa ini sangat penting untuk menekan angka false negative (kegagalan deteksi pasien berisiko tinggi). (mengungguli XGBoost dan Random Forest) </a:t>
                </a:r>
                <a:endParaRPr b="0" sz="1100">
                  <a:solidFill>
                    <a:srgbClr val="E0F2FE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0" name="Google Shape;250;p25"/>
            <p:cNvGrpSpPr/>
            <p:nvPr/>
          </p:nvGrpSpPr>
          <p:grpSpPr>
            <a:xfrm>
              <a:off x="571500" y="4000500"/>
              <a:ext cx="5334000" cy="2095500"/>
              <a:chOff x="571500" y="4000500"/>
              <a:chExt cx="5334000" cy="2095500"/>
            </a:xfrm>
          </p:grpSpPr>
          <p:sp>
            <p:nvSpPr>
              <p:cNvPr id="251" name="Google Shape;251;p25"/>
              <p:cNvSpPr/>
              <p:nvPr/>
            </p:nvSpPr>
            <p:spPr>
              <a:xfrm>
                <a:off x="571500" y="4000500"/>
                <a:ext cx="5334000" cy="2095500"/>
              </a:xfrm>
              <a:prstGeom prst="roundRect">
                <a:avLst>
                  <a:gd fmla="val 727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5"/>
              <p:cNvSpPr txBox="1"/>
              <p:nvPr/>
            </p:nvSpPr>
            <p:spPr>
              <a:xfrm>
                <a:off x="809625" y="4191000"/>
                <a:ext cx="48579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Transparansi Model (SHAP)</a:t>
                </a:r>
                <a:endParaRPr b="1" sz="14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Integrasi XAI melalui SHAP mendobrak batasan black-box. Setiap prediksi dapat dijelaskan dan divalidasi sesuai literatur medis.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53" name="Google Shape;253;p25"/>
            <p:cNvGrpSpPr/>
            <p:nvPr/>
          </p:nvGrpSpPr>
          <p:grpSpPr>
            <a:xfrm>
              <a:off x="6276975" y="4000500"/>
              <a:ext cx="5334000" cy="2095500"/>
              <a:chOff x="6276975" y="4000500"/>
              <a:chExt cx="5334000" cy="2095500"/>
            </a:xfrm>
          </p:grpSpPr>
          <p:sp>
            <p:nvSpPr>
              <p:cNvPr id="254" name="Google Shape;254;p25"/>
              <p:cNvSpPr/>
              <p:nvPr/>
            </p:nvSpPr>
            <p:spPr>
              <a:xfrm>
                <a:off x="6276975" y="4000500"/>
                <a:ext cx="5334000" cy="2095500"/>
              </a:xfrm>
              <a:prstGeom prst="roundRect">
                <a:avLst>
                  <a:gd fmla="val 7272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5"/>
              <p:cNvSpPr txBox="1"/>
              <p:nvPr/>
            </p:nvSpPr>
            <p:spPr>
              <a:xfrm>
                <a:off x="6515100" y="4191000"/>
                <a:ext cx="48579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Implementasi Sistem (Streamlit)</a:t>
                </a:r>
                <a:endParaRPr b="1" sz="14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Pipeline analitik diintegrasikan menjadi antarmuka dashboard web yang praktis, real-time, dan siap digunakan tenaga kesehatan.</a:t>
                </a:r>
                <a:endParaRPr b="0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